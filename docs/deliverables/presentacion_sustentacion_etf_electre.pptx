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Modelo integrado de optimización multicriterio para portafolios de ETFs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ADCFC"/>
                </a:solidFill>
              </a:defRPr>
            </a:pPr>
            <a:r>
              <a:t>Entregable listo para sustentación: metodología, resultados, limitaciones y reproducibilidad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Problema y aporte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E"/>
                </a:solidFill>
              </a:defRPr>
            </a:pPr>
            <a:r>
              <a:t>Evitar selección ETF sobreajustada a una ventana favorable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120640" cy="141732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ELECTRE Tri clasifica ETFs por criterios de retorno/riesgo.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Aporte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5120640" cy="141732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Walk-forward evita look-ahead y revela fallos por régimen.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Aporte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5120640" cy="141732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Atribución por fold identifica commodities, China y temáticos como detractores.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Aporte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474720"/>
            <a:ext cx="5120640" cy="141732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El candidato agrega cap de categoría, materialidad y confirmación de recategorización.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Aporte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Resultado del candidato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E"/>
                </a:solidFill>
              </a:defRPr>
            </a:pPr>
            <a:r>
              <a:t>Comparado contra el baseline ELECTRE largo 2015-2025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46888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896"/>
                </a:solidFill>
              </a:defRPr>
            </a:pPr>
            <a:r>
              <a:t>2.47%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CAGR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554480"/>
            <a:ext cx="246888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896"/>
                </a:solidFill>
              </a:defRPr>
            </a:pPr>
            <a:r>
              <a:t>0.247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Sharpe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554480"/>
            <a:ext cx="246888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B95042"/>
                </a:solidFill>
              </a:defRPr>
            </a:pPr>
            <a:r>
              <a:t>-24.01%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Max Drawdown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554480"/>
            <a:ext cx="246888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28090"/>
                </a:solidFill>
              </a:defRPr>
            </a:pPr>
            <a:r>
              <a:t>4.02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Turnover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Mejora vs baseline largo: CAGR 3.55%, Sharpe 0.236, Max DD 19.53%.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Límites de inferencia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E"/>
                </a:solidFill>
              </a:defRPr>
            </a:pPr>
            <a:r>
              <a:t>La presentación debe ser honesta y académicamente defendible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515600" cy="777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D2E46"/>
                </a:solidFill>
              </a:defRPr>
            </a:pPr>
            <a:r>
              <a:t>No se afirma superioridad frente a SPY/60-40.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Límite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515600" cy="777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D2E46"/>
                </a:solidFill>
              </a:defRPr>
            </a:pPr>
            <a:r>
              <a:t>Datos públicos no survivorship-bias-free.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Límite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10515600" cy="777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D2E46"/>
                </a:solidFill>
              </a:defRPr>
            </a:pPr>
            <a:r>
              <a:t>Siguiente validación: base institucional point-in-time.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Límite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515600" cy="777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D2E46"/>
                </a:solidFill>
              </a:defRPr>
            </a:pPr>
            <a:r>
              <a:t>El valor del trabajo es el pipeline reproducible y el diagnóstico de robustez.</a:t>
            </a:r>
          </a:p>
          <a:p>
            <a:pPr algn="ctr">
              <a:defRPr sz="1000">
                <a:solidFill>
                  <a:srgbClr val="46505A"/>
                </a:solidFill>
              </a:defRPr>
            </a:pPr>
            <a:r>
              <a:t>Límite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Artefactos entregables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E"/>
                </a:solidFill>
              </a:defRPr>
            </a:pPr>
            <a:r>
              <a:t>Rutas para revisión, defensa y replicación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docs/deliverables/tesis_trabajo_grado_etf_electre.docx</a:t>
            </a:r>
          </a:p>
          <a:p>
            <a:pPr>
              <a:defRPr sz="1800"/>
            </a:pPr>
            <a:r>
              <a:t>docs/deliverables/presentacion_sustentacion_etf_electre.pptx</a:t>
            </a:r>
          </a:p>
          <a:p>
            <a:pPr>
              <a:defRPr sz="1800"/>
            </a:pPr>
            <a:r>
              <a:t>docs/deliverables/front_presentacion/index.html</a:t>
            </a:r>
          </a:p>
          <a:p>
            <a:pPr>
              <a:defRPr sz="1800"/>
            </a:pPr>
            <a:r>
              <a:t>results/.../provenance.json + run_manifest.json</a:t>
            </a:r>
          </a:p>
          <a:p>
            <a:pPr>
              <a:defRPr sz="1800"/>
            </a:pPr>
            <a:r>
              <a:t>results/.../strategy_comparison.csv + fold_holdings_attribution.csv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